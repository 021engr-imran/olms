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Presenter: Member 1. Introduce Group 1, Release 1 review, and the planned transfer of project management to Member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One-page charter. The eight-week duration and four releases are project planning assumptions established in the discussion. No budget or formal acceptance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Release 1 and borrowing/returns in Release 2 follow the current plan. Release 3 and Release 4 allocation is proposed for 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proposed responsibility allocation for this deck. Confirm it against actual contributions. Do not claim that a member completed work solely because it appears in this allocation.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current code implements all seven areas. Borrowing, returning and overdue tracking are outside Release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PB-01 to PB-07 are implemented in the supplied Release 1 package. Remaining work is planned. R3/R4 allocation is proposed. Optional items can move if core work needs more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Owners are working assignments. Each item requires actual team test evidence before the team marks it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user screenshots dated 24 October 2026, including Weixin Image_20261024140832_1213_92.png. Automated Flask test-client checks passed during preparation of the source package. Team manual acceptance and shared repository evidence have not been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passing automatic checks does not establish team acceptance. Repository link is pending and must be inserted by the group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these steps live. Present only results actually observed. The shared repository URL and review record are still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Member 1: I am handing over the current scope, working source, test status and open issues. Member 2: I will lead the next sprint, confirm priorities, assign daily work and track blockers. This slide presents the planned handover, not a claim that sign-off has already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incoming manager’s proposed plan. The team must agree the loan period and due-date policy on Day 1. No loan duration is assumed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proposed ten-working-day plan. Member 2 leads the daily check-in. Member 1 supports requirements review after the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second week completes returns and checks the integrated MVP. Release acceptance depends on the recorded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Proposed acceptance checks. Due-date rules need agreement on Day 1. Preserve the current database and back it up before schema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actual decisions recorded at the meeting. Do not describe pending acceptance or repository access as complete. The teacher’s Week 5 checklist requires charter, goal/backlogs, criteria, Definition of Done, shared repository and setup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BB82-1268-6D86-84C0-98862A42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3E844-B3D1-A600-6534-3E07DFACC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3E494-A939-2613-4089-C65B7D2E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with the actual decisions recorded at the meeting. Do not describe pending acceptance or repository access as complete. The teacher’s Week 5 checklist requires charter, goal/backlogs, criteria, Definition of Done, shared repository and setup evidence.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2B7AF-3063-4C73-AFF2-ADAB6C96978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871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4906C6B-1974-43A5-B780-8DACFA96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A14D53A-5E98-44CF-8770-A61815D03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82E84B6-58C4-4633-98F2-46555ABC1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7A6722A-C544-43B7-9611-30F51652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9D0F286-2ABE-4361-AC11-0D0A18C50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AC526E8-3C30-4D72-B7B5-1C2C48202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D2E93EB-EA46-4A34-AD23-C0A0E2C22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532599E3-FD8D-42D9-AD28-0533221202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BA1D1BA-4198-47D2-BF9D-26005E28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B6649C3-88B2-4B72-8E1A-AA3CBB443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2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32D88E9-FE33-4DDD-A3F6-F77D6826936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5715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defRPr>
            </a:pPr>
            <a:r>
              <a:rPr sz="7500" b="0">
                <a:solidFill>
                  <a:srgbClr val="EBD8BD"/>
                </a:solidFill>
                <a:latin typeface="Nimbus Roman"/>
                <a:ea typeface="Nimbus Roman"/>
                <a:cs typeface="Nimbus Roman"/>
              </a:rPr>
              <a:t>OLMS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3A6CF6-562F-4F91-A92B-1F79C139D9BC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7B2E47-6928-43C5-A645-86699355986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EBD8BD"/>
                </a:solidFill>
                <a:latin typeface="Nimbus Sans"/>
                <a:ea typeface="Nimbus Sans"/>
                <a:cs typeface="Nimbus Sans"/>
              </a:rPr>
              <a:t>GROUP 1  /  MEMBERS 1–6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02D25-4366-42F8-A282-2327C421972A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953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defRPr>
            </a:pPr>
            <a:r>
              <a:rPr sz="6150" b="0">
                <a:solidFill>
                  <a:srgbClr val="FFF8EC"/>
                </a:solidFill>
                <a:latin typeface="Nimbus Roman"/>
                <a:ea typeface="Nimbus Roman"/>
                <a:cs typeface="Nimbus Roman"/>
              </a:rPr>
              <a:t>Release 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E1A56-01BC-4FDB-8A61-0A7F7A15D89A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10477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defRPr>
            </a:pPr>
            <a:r>
              <a:rPr sz="2625" b="0">
                <a:solidFill>
                  <a:srgbClr val="EBD8BD"/>
                </a:solidFill>
                <a:latin typeface="Nimbus Sans"/>
                <a:ea typeface="Nimbus Sans"/>
                <a:cs typeface="Nimbus Sans"/>
              </a:rPr>
              <a:t>Review &amp; leadership transition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C77F1C-17DB-4D96-84F3-906B19F8AC7E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4572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pPr>
            <a:r>
              <a:rPr lang="en-US" dirty="0"/>
              <a:t>Muhammad Huzaifa Asif</a:t>
            </a:r>
            <a:endParaRPr sz="2625" b="1" dirty="0">
              <a:solidFill>
                <a:srgbClr val="FFF8EC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379588-0D93-4D70-8242-EE210860A2FA}"/>
              </a:ext>
            </a:extLst>
          </p:cNvPr>
          <p:cNvSpPr>
            <a:spLocks noGrp="1"/>
          </p:cNvSpPr>
          <p:nvPr/>
        </p:nvSpPr>
        <p:spPr>
          <a:xfrm>
            <a:off x="6715125" y="5048250"/>
            <a:ext cx="4572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625" b="1">
                <a:solidFill>
                  <a:srgbClr val="FFF8EC"/>
                </a:solidFill>
                <a:latin typeface="Nimbus Sans"/>
                <a:ea typeface="Nimbus Sans"/>
                <a:cs typeface="Nimbus Sans"/>
              </a:defRPr>
            </a:pPr>
            <a:r>
              <a:rPr lang="en-US" dirty="0"/>
              <a:t>Nazir Imran</a:t>
            </a:r>
            <a:endParaRPr sz="2625" b="1" dirty="0">
              <a:solidFill>
                <a:srgbClr val="FFF8EC"/>
              </a:solidFill>
              <a:latin typeface="Nimbus Sans"/>
              <a:ea typeface="Nimbus Sans"/>
              <a:cs typeface="Nimbus San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F3AA33-42F4-42D8-AF48-D8C4CB4E9C4F}"/>
              </a:ext>
            </a:extLst>
          </p:cNvPr>
          <p:cNvSpPr>
            <a:spLocks noGrp="1"/>
          </p:cNvSpPr>
          <p:nvPr/>
        </p:nvSpPr>
        <p:spPr>
          <a:xfrm>
            <a:off x="666750" y="5619750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pPr>
            <a:r>
              <a:rPr lang="en-US" sz="1800" b="0" dirty="0">
                <a:solidFill>
                  <a:srgbClr val="D6AF92"/>
                </a:solidFill>
                <a:latin typeface="Nimbus Sans"/>
                <a:ea typeface="Nimbus Sans"/>
                <a:cs typeface="Nimbus Sans"/>
              </a:rPr>
              <a:t>Outgoing project manager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2E8863-CF95-40E0-97AD-385AEFD3DA92}"/>
              </a:ext>
            </a:extLst>
          </p:cNvPr>
          <p:cNvSpPr>
            <a:spLocks noGrp="1"/>
          </p:cNvSpPr>
          <p:nvPr/>
        </p:nvSpPr>
        <p:spPr>
          <a:xfrm>
            <a:off x="6715125" y="5619750"/>
            <a:ext cx="4762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00" b="0">
                <a:solidFill>
                  <a:srgbClr val="D6AF92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 dirty="0">
                <a:solidFill>
                  <a:srgbClr val="D6AF92"/>
                </a:solidFill>
                <a:latin typeface="Nimbus Sans"/>
                <a:ea typeface="Nimbus Sans"/>
                <a:cs typeface="Nimbus Sans"/>
              </a:rPr>
              <a:t>Incoming project manager</a:t>
            </a:r>
          </a:p>
        </p:txBody>
      </p:sp>
    </p:spTree>
    <p:extLst>
      <p:ext uri="{BB962C8B-B14F-4D97-AF65-F5344CB8AC3E}">
        <p14:creationId xmlns:p14="http://schemas.microsoft.com/office/powerpoint/2010/main" val="123363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C634AE-B694-4BAD-A7FE-0B681B2AFA56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Project charter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2F2207-A9D7-499B-B9A0-E5D9376156B1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ADB708-1FF1-4503-9E1E-C0511C115AC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E6BF5D-99AF-46B9-B3F3-ED9411A0DF3C}"/>
              </a:ext>
            </a:extLst>
          </p:cNvPr>
          <p:cNvGraphicFramePr/>
          <p:nvPr/>
        </p:nvGraphicFramePr>
        <p:xfrm>
          <a:off x="609600" y="1381125"/>
          <a:ext cx="10972800" cy="4524376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1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554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Area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Agreement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Purpose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Replace paper records with a simple library web application.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Users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Librarian, library administrator, members and college management.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Duration and team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Eight project weeks, four releases, six members.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Core scope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Catalogue, copies, members, borrowing, returns and overdue listing.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Technology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Python, Flask, SQLite, HTML and CSS.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Boundaries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payments, barcode hardware or institutional integration.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547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Success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Accurate records, usable borrowing workflow and passed acceptance checks.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59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C80E60C-EB7F-46C1-85D6-9869E3BDEAD4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Product goal and release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21E16-5DCB-4498-9D41-18107F170A6A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5A4183-FD5B-4BFB-96C5-E689C18E27A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C3041C-456E-4F93-892A-5E0DCAF15D1A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858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B7552C"/>
                </a:solidFill>
                <a:latin typeface="Nimbus Sans"/>
                <a:ea typeface="Nimbus Sans"/>
                <a:cs typeface="Nimbus Sans"/>
              </a:rPr>
              <a:t>A reliable small-library system that helps staff find books and manage loans.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E73F9B-A042-40DF-AE75-BE27A39EE5A5}"/>
              </a:ext>
            </a:extLst>
          </p:cNvPr>
          <p:cNvGraphicFramePr/>
          <p:nvPr/>
        </p:nvGraphicFramePr>
        <p:xfrm>
          <a:off x="609600" y="2333625"/>
          <a:ext cx="10972800" cy="3333750"/>
        </p:xfrm>
        <a:graphic>
          <a:graphicData uri="http://schemas.openxmlformats.org/drawingml/2006/table">
            <a:tbl>
              <a:tblPr/>
              <a:tblGrid>
                <a:gridCol w="2047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Release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Focus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Expected result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R1 • Weeks 1–2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Catalogue and members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Staff can maintain books, copies and member status.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R2 • Weeks 3–4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Borrowing and returns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Staff can issue and return copies. MVP target.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R3 • Weeks 5–6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Overdue loans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Staff can identify overdue loans. History if time permits.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R4 • Weeks 7–8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Quality and reporting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Regression checks and documentation. Optional CSV/filtering.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5185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94D1F7-7068-4DB6-B801-3333789A6F3E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Member work fields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3EA66C-3A26-4F31-9987-AD78C0E598AA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E4083-DFA9-4DE3-B5EB-95E83D1276C5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9818CC-DD98-456F-A45B-C599E26BA5E5}"/>
              </a:ext>
            </a:extLst>
          </p:cNvPr>
          <p:cNvGraphicFramePr/>
          <p:nvPr/>
        </p:nvGraphicFramePr>
        <p:xfrm>
          <a:off x="609600" y="1428750"/>
          <a:ext cx="10972800" cy="4000500"/>
        </p:xfrm>
        <a:graphic>
          <a:graphicData uri="http://schemas.openxmlformats.org/drawingml/2006/table">
            <a:tbl>
              <a:tblPr/>
              <a:tblGrid>
                <a:gridCol w="147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Release 1 work field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Release 2 responsibility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1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Project management / Scrum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Handover support and requirements review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2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Requirements and product backlog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Project manager / Scrum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3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Backend development and authentication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Borrowing and return logic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4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Database and record management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Loan records and data integrity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5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Frontend development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Borrowing and return pages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6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Testing and documentation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Acceptance checks and release evidence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59350D6-E3A3-4AC3-9F99-5B9551779BBF}"/>
              </a:ext>
            </a:extLst>
          </p:cNvPr>
          <p:cNvSpPr>
            <a:spLocks noGrp="1"/>
          </p:cNvSpPr>
          <p:nvPr/>
        </p:nvSpPr>
        <p:spPr>
          <a:xfrm>
            <a:off x="609600" y="5695950"/>
            <a:ext cx="1095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Responsibility allocation for team confirmation.</a:t>
            </a:r>
          </a:p>
        </p:txBody>
      </p:sp>
    </p:spTree>
    <p:extLst>
      <p:ext uri="{BB962C8B-B14F-4D97-AF65-F5344CB8AC3E}">
        <p14:creationId xmlns:p14="http://schemas.microsoft.com/office/powerpoint/2010/main" val="7219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926F19C-EA2C-49AC-B685-8383DD975449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1 sprint goal and scope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BFFF4C-8F5E-43C6-BBBF-1E102FAA669F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B6D6EC-33A0-4AEF-80B2-EE0AFFD81A91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2ECBD6-9768-482F-9DE6-330829A4B4D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8585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B7552C"/>
                </a:solidFill>
                <a:latin typeface="Nimbus Sans"/>
                <a:ea typeface="Nimbus Sans"/>
                <a:cs typeface="Nimbus Sans"/>
              </a:rPr>
              <a:t>Staff can maintain a searchable catalogue and register members with eligibility status.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F924E-FFA5-4B8C-837C-48E80FE4582E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Catalogue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2DA686-30DD-405A-85DE-C01C996E6C81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Register and edit books. Search by title or author.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46FDDD-3E15-4BF7-9362-B5085CE6A985}"/>
              </a:ext>
            </a:extLst>
          </p:cNvPr>
          <p:cNvSpPr>
            <a:spLocks noGrp="1"/>
          </p:cNvSpPr>
          <p:nvPr/>
        </p:nvSpPr>
        <p:spPr>
          <a:xfrm>
            <a:off x="6324600" y="2952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Physical copies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59C5FA-CADA-4188-B84A-F5094802C7EA}"/>
              </a:ext>
            </a:extLst>
          </p:cNvPr>
          <p:cNvSpPr>
            <a:spLocks noGrp="1"/>
          </p:cNvSpPr>
          <p:nvPr/>
        </p:nvSpPr>
        <p:spPr>
          <a:xfrm>
            <a:off x="6324600" y="3524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Assign unique copy IDs and show available / total counts.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34828B-FEAC-487E-9C33-18A572BD982D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Access and membership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49816A-9192-453A-92C4-7D5E0A977A8A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Staff login/logout. Register members and change active status.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A22B58-09BE-43CC-B434-FCCC58737D0D}"/>
              </a:ext>
            </a:extLst>
          </p:cNvPr>
          <p:cNvSpPr>
            <a:spLocks noGrp="1"/>
          </p:cNvSpPr>
          <p:nvPr/>
        </p:nvSpPr>
        <p:spPr>
          <a:xfrm>
            <a:off x="6324600" y="4476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Record preservation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6BE756-8A85-496B-BEA8-459D592EFA2B}"/>
              </a:ext>
            </a:extLst>
          </p:cNvPr>
          <p:cNvSpPr>
            <a:spLocks noGrp="1"/>
          </p:cNvSpPr>
          <p:nvPr/>
        </p:nvSpPr>
        <p:spPr>
          <a:xfrm>
            <a:off x="6324600" y="5048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Deactivate and reactivate books without deleting their records.</a:t>
            </a:r>
          </a:p>
        </p:txBody>
      </p:sp>
    </p:spTree>
    <p:extLst>
      <p:ext uri="{BB962C8B-B14F-4D97-AF65-F5344CB8AC3E}">
        <p14:creationId xmlns:p14="http://schemas.microsoft.com/office/powerpoint/2010/main" val="1922232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47C3DA4-4289-4D08-B66F-C7612F135173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Prioritised product backlog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C41928-9EC0-40E7-915E-22AFADCF85D0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728C3C-94AC-45B4-8020-7A77E2AF27D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A5062A-016D-47FE-97EC-305B077C68DD}"/>
              </a:ext>
            </a:extLst>
          </p:cNvPr>
          <p:cNvGraphicFramePr/>
          <p:nvPr/>
        </p:nvGraphicFramePr>
        <p:xfrm>
          <a:off x="609600" y="1428750"/>
          <a:ext cx="10972800" cy="4286248"/>
        </p:xfrm>
        <a:graphic>
          <a:graphicData uri="http://schemas.openxmlformats.org/drawingml/2006/table">
            <a:tbl>
              <a:tblPr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IDs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Backlog items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Priority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Release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PB-01–03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Staff login, book registration, physical copies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Must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R1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PB-04–05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Title/author search, edit and deactivate books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Must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R1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PB-06–07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registration and eligibility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Must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R1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PB-08–09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Borrowing with due dates, returns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Must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R2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PB-10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Overdue loan listing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Must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R3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PB-11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Borrowing history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Should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R3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PB-12–13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Category filtering and CSV exports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Could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R4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1439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3AB763-7F47-4ED0-A118-FF8A7E971A45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1 acceptance criteria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F4B6DCB-6176-42B2-B435-CFD64973756F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BAEE16-3876-4FCB-88B3-BD5372AF7C18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MEMBERS 3–6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0B6335-39DA-4303-8831-B1405582B55D}"/>
              </a:ext>
            </a:extLst>
          </p:cNvPr>
          <p:cNvGraphicFramePr/>
          <p:nvPr/>
        </p:nvGraphicFramePr>
        <p:xfrm>
          <a:off x="609600" y="1428750"/>
          <a:ext cx="10972800" cy="4333872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1734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Feature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Acceptance check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Lead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Staff access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Correct login succeeds. Wrong password fails. Logout protects pages.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M3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Books and copies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Book gets a unique ID. Three copies get three distinct IDs.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M4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Search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Partial English title/author search works regardless of letter case.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M3 / M5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Book maintenance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Edits preserve IDs. Deactivation hides book from default catalogue.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M3 / M4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Valid name creates a unique member ID. Blank name is rejected.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M4 / M5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Eligibility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Active displays ELIGIBLE. Inactive displays NOT ELIGIBLE.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M3 / M6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1734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Persistence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Records remain after stopping and restarting the application.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M6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2487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629E9A-9588-4066-BB05-B1DFAD26BFE9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1 progress and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18E7E4-BF8B-4535-B136-CED4244DE8D2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2EBE9-24A1-4B52-9613-30E92999CDD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7A544F-00C5-4839-B547-4633B2E792CD}"/>
              </a:ext>
            </a:extLst>
          </p:cNvPr>
          <p:cNvGraphicFramePr/>
          <p:nvPr/>
        </p:nvGraphicFramePr>
        <p:xfrm>
          <a:off x="609600" y="1428750"/>
          <a:ext cx="10972800" cy="3696020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Evidence level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Current position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Demonstrated locally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Application runs locally and staff login succeeds.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Demonstrated catalogue record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B-1: HSK 1 Standard Course. Active. Three available / three total.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Implemented and automatically checked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All seven Release 1 areas in the supplied code package.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Team verification still needed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Search, editing, separate copy IDs, member status and restart evidence.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11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Acceptance status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Team review and acceptance record remain pending.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9C3BCD74-C9CA-4B73-9B74-1E6D92920694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B7552C"/>
                </a:solidFill>
                <a:latin typeface="Nimbus Sans"/>
                <a:ea typeface="Nimbus Sans"/>
                <a:cs typeface="Nimbus Sans"/>
              </a:rPr>
              <a:t>The edition field currently contains a publisher name. Correct it before the demo.</a:t>
            </a:r>
          </a:p>
        </p:txBody>
      </p:sp>
    </p:spTree>
    <p:extLst>
      <p:ext uri="{BB962C8B-B14F-4D97-AF65-F5344CB8AC3E}">
        <p14:creationId xmlns:p14="http://schemas.microsoft.com/office/powerpoint/2010/main" val="1718672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C2A00D3-CDE2-46AB-9597-03502A438FA8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Definition of Done and release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FCC635-5BF9-4A0B-849E-5B0F29706A7F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FCF235-9E16-4E51-B11B-CEAB7DE33B9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38B114-55E1-473D-8617-5E057B85CD42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Feature complete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14587D-0418-4448-B342-8F6589F74231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Acceptance criteria pass and another member reviews the code.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8D654-04CD-4B8E-8C98-2FC948AFD586}"/>
              </a:ext>
            </a:extLst>
          </p:cNvPr>
          <p:cNvSpPr>
            <a:spLocks noGrp="1"/>
          </p:cNvSpPr>
          <p:nvPr/>
        </p:nvSpPr>
        <p:spPr>
          <a:xfrm>
            <a:off x="6324600" y="176212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Quality checked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03830-B7BE-4D17-B7C6-F2DAF64BDC3C}"/>
              </a:ext>
            </a:extLst>
          </p:cNvPr>
          <p:cNvSpPr>
            <a:spLocks noGrp="1"/>
          </p:cNvSpPr>
          <p:nvPr/>
        </p:nvSpPr>
        <p:spPr>
          <a:xfrm>
            <a:off x="6324600" y="233362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Normal and invalid inputs pass. No blocking defect remains.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4DD70-8E88-4108-BC32-E123D5E83095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Records protected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EF5C29-CCFB-4560-BCBC-C5117C2649C6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Changes save correctly and existing data survives restart.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FA5311-3BDD-4A83-9994-4B581777BD28}"/>
              </a:ext>
            </a:extLst>
          </p:cNvPr>
          <p:cNvSpPr>
            <a:spLocks noGrp="1"/>
          </p:cNvSpPr>
          <p:nvPr/>
        </p:nvSpPr>
        <p:spPr>
          <a:xfrm>
            <a:off x="6324600" y="376237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Evidence recorded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7C523D-3BFC-49E1-AF45-86D15261697B}"/>
              </a:ext>
            </a:extLst>
          </p:cNvPr>
          <p:cNvSpPr>
            <a:spLocks noGrp="1"/>
          </p:cNvSpPr>
          <p:nvPr/>
        </p:nvSpPr>
        <p:spPr>
          <a:xfrm>
            <a:off x="6324600" y="433387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Shared repository, test results and setup guide support the demo.</a:t>
            </a:r>
          </a:p>
        </p:txBody>
      </p:sp>
    </p:spTree>
    <p:extLst>
      <p:ext uri="{BB962C8B-B14F-4D97-AF65-F5344CB8AC3E}">
        <p14:creationId xmlns:p14="http://schemas.microsoft.com/office/powerpoint/2010/main" val="19218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A22F07C-964F-45E1-8A00-929AD3542B41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1 review and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09B87F-4D1C-4B3F-9627-450224BB379B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7AA13-5EC6-42F8-9A4B-5BE1FBB76EAD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1 WITH MEMBER 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1273C6-FA39-4B20-9465-7110394FEA98}"/>
              </a:ext>
            </a:extLst>
          </p:cNvPr>
          <p:cNvGraphicFramePr/>
          <p:nvPr/>
        </p:nvGraphicFramePr>
        <p:xfrm>
          <a:off x="609600" y="1428750"/>
          <a:ext cx="10972800" cy="3429000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Order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Demonstration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Expected result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Log in and open the catalogue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Authorised staff access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Open B-1 and add two physical copies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Five total copies with distinct IDs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Search, edit, deactivate and reactivate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Correct result and preserved IDs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Register a member and toggle status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Eligibility changes with status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Restart, log in and check records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Saved records remain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3CB4040-870E-4E75-8E6B-638927767A0F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953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Review record: date, tester, expected result, actual result, pass/fail and open issues.</a:t>
            </a:r>
          </a:p>
        </p:txBody>
      </p:sp>
    </p:spTree>
    <p:extLst>
      <p:ext uri="{BB962C8B-B14F-4D97-AF65-F5344CB8AC3E}">
        <p14:creationId xmlns:p14="http://schemas.microsoft.com/office/powerpoint/2010/main" val="1443678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42C9FE0-F8C1-4BC9-AAFC-42174E7304B3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Project manager handover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89E96A-168C-4EBE-89B1-E357884B912F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5AF7D3-FC28-40D4-9B01-84455C4CEFB4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1, THEN MEMBER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92D0640-3DEA-45FC-B659-6BCC5859EEEB}"/>
              </a:ext>
            </a:extLst>
          </p:cNvPr>
          <p:cNvGraphicFramePr/>
          <p:nvPr/>
        </p:nvGraphicFramePr>
        <p:xfrm>
          <a:off x="609600" y="1524000"/>
          <a:ext cx="10972800" cy="321183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1 • Outgoing manager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Member 2 • Incoming manager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Summarise Release 1 scope and demonstrated progress.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Confirm the current baseline and outstanding checks.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Transfer source files, backlog and setup instructions.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Lead Release 2 planning and daily coordination.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Explain defects, risks and acceptance gaps.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Assign owners and monitor progress against the sprint goal.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Support questions during the transition.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Lead the sprint review and record release decisions.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D936170-FB51-46B8-8401-2B1C94521247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10858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B7552C"/>
                </a:solidFill>
                <a:latin typeface="Nimbus Sans"/>
                <a:ea typeface="Nimbus Sans"/>
                <a:cs typeface="Nimbus Sans"/>
              </a:rPr>
              <a:t>Handover record: repository access, runnable version, backlog, test log and open issues.</a:t>
            </a:r>
          </a:p>
        </p:txBody>
      </p:sp>
    </p:spTree>
    <p:extLst>
      <p:ext uri="{BB962C8B-B14F-4D97-AF65-F5344CB8AC3E}">
        <p14:creationId xmlns:p14="http://schemas.microsoft.com/office/powerpoint/2010/main" val="396738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8FDF072-172A-47A8-8CA8-FD6829E88692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2 sprint goal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3F4432-4C26-4DAC-B280-17C89F414C19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769AA0-993B-4F60-9053-D9BD7658E063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2C848A-2E92-4BB3-935A-233C7D81E2AA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10668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B7552C"/>
                </a:solidFill>
                <a:latin typeface="Nimbus Sans"/>
                <a:ea typeface="Nimbus Sans"/>
                <a:cs typeface="Nimbus Sans"/>
              </a:rPr>
              <a:t>Staff can issue an available copy to an active member and record its return.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5C5B6C-D69F-4E41-863A-EAA54689927F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Borrowing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A34B21-9C20-45E9-8C74-A1E0FF5E48CB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Validate the member and copy. Save the loan and due date.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0708D1-E014-4284-8E9C-57E2E0BB76CD}"/>
              </a:ext>
            </a:extLst>
          </p:cNvPr>
          <p:cNvSpPr>
            <a:spLocks noGrp="1"/>
          </p:cNvSpPr>
          <p:nvPr/>
        </p:nvSpPr>
        <p:spPr>
          <a:xfrm>
            <a:off x="6324600" y="2952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Availability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E72208-D4ED-46D5-AB54-61C049F67A5A}"/>
              </a:ext>
            </a:extLst>
          </p:cNvPr>
          <p:cNvSpPr>
            <a:spLocks noGrp="1"/>
          </p:cNvSpPr>
          <p:nvPr/>
        </p:nvSpPr>
        <p:spPr>
          <a:xfrm>
            <a:off x="6324600" y="3524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Issuing a copy reduces availability. Returning restores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B19BF5-2EE7-4DAC-B677-AAEAC38F7606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Integrity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04FE89-B1E6-4F4C-B33E-59B2217BCF81}"/>
              </a:ext>
            </a:extLst>
          </p:cNvPr>
          <p:cNvSpPr>
            <a:spLocks noGrp="1"/>
          </p:cNvSpPr>
          <p:nvPr/>
        </p:nvSpPr>
        <p:spPr>
          <a:xfrm>
            <a:off x="609600" y="5048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Reject inactive members, unavailable copies and repeat returns.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7DE6D6-365D-4AAE-AB3F-D2E685800816}"/>
              </a:ext>
            </a:extLst>
          </p:cNvPr>
          <p:cNvSpPr>
            <a:spLocks noGrp="1"/>
          </p:cNvSpPr>
          <p:nvPr/>
        </p:nvSpPr>
        <p:spPr>
          <a:xfrm>
            <a:off x="6324600" y="4476750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MVP target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AE1832-78FE-44B7-ABC8-423F9AA011DF}"/>
              </a:ext>
            </a:extLst>
          </p:cNvPr>
          <p:cNvSpPr>
            <a:spLocks noGrp="1"/>
          </p:cNvSpPr>
          <p:nvPr/>
        </p:nvSpPr>
        <p:spPr>
          <a:xfrm>
            <a:off x="6324600" y="5048250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Catalogue, authentication, members, borrowing and returns work together.</a:t>
            </a:r>
          </a:p>
        </p:txBody>
      </p:sp>
    </p:spTree>
    <p:extLst>
      <p:ext uri="{BB962C8B-B14F-4D97-AF65-F5344CB8AC3E}">
        <p14:creationId xmlns:p14="http://schemas.microsoft.com/office/powerpoint/2010/main" val="1387215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3C74FB-B105-428A-AF62-ECFDEEF0ED49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2 plan: first five working days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D6CB10-B724-47C0-8688-ED7C4586AA6A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7F6305-EC82-43A7-A01A-10CD8B7D274C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1E563E-6617-4CFB-9A4D-4C603E987180}"/>
              </a:ext>
            </a:extLst>
          </p:cNvPr>
          <p:cNvGraphicFramePr/>
          <p:nvPr/>
        </p:nvGraphicFramePr>
        <p:xfrm>
          <a:off x="609600" y="1476375"/>
          <a:ext cx="10972800" cy="3810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Work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Lead members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Daily result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Confirm loan rules, acceptance checks and open R1 issues.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M2, M1, M6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Agreed sprint backlog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Design loan table and member/copy relationships.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M4, M3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Reviewed data design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Build borrowing logic and eligibility checks.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M3, M4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Loan saves with valid data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Build issue form and clear validation messages.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M5, M3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Usable borrowing page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Integrate borrowing and test invalid cases.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M6, M3–5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Borrowing demo and defect log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09C39EC8-83D4-4B98-BE35-C6DCC6EA20D9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5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Daily coordination: completed work, next task, blocker and responsible member.</a:t>
            </a:r>
          </a:p>
        </p:txBody>
      </p:sp>
    </p:spTree>
    <p:extLst>
      <p:ext uri="{BB962C8B-B14F-4D97-AF65-F5344CB8AC3E}">
        <p14:creationId xmlns:p14="http://schemas.microsoft.com/office/powerpoint/2010/main" val="1203425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6AC0E5-1275-464B-98A5-E79E8547235F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2 plan: next five working days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851DA5-9D60-4A2C-8AE0-3B543899E82E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4EA9F-7714-481A-91CC-21EFFFB0EFB0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9DB82D-BDD4-4AE0-86D6-4DF9E89BBEB0}"/>
              </a:ext>
            </a:extLst>
          </p:cNvPr>
          <p:cNvGraphicFramePr/>
          <p:nvPr/>
        </p:nvGraphicFramePr>
        <p:xfrm>
          <a:off x="609600" y="1476375"/>
          <a:ext cx="10972800" cy="38100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 dirty="0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Work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Lead members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Daily result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Build return logic and restore copy availability.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M3, M4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Correct return transaction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Build loan lookup and return page.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M5, M3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Usable return workflow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Test full issue/return flow and R1 regression.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M6, M3–5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Recorded test results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Fix defects, check restart and update user guide.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M3–6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Release candidate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Demonstrate, review criteria and record decision.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M2, all members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Review and next backlog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1049A1FC-E50F-44BF-910A-7E9CF07553A6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53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2 tracks progress and escalates blockers throughout both weeks.</a:t>
            </a:r>
          </a:p>
        </p:txBody>
      </p:sp>
    </p:spTree>
    <p:extLst>
      <p:ext uri="{BB962C8B-B14F-4D97-AF65-F5344CB8AC3E}">
        <p14:creationId xmlns:p14="http://schemas.microsoft.com/office/powerpoint/2010/main" val="2128874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B9A5105-A090-46C0-B487-D837C9A891BF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Release 2 acceptance and risks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9C65D-4A68-44AC-A579-C4CAFB080A94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9CE351-6E03-4580-A63F-C550665A9FFB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2 WITH MEMBER 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0CFC8F-81BD-4C7D-8302-7784456A2193}"/>
              </a:ext>
            </a:extLst>
          </p:cNvPr>
          <p:cNvGraphicFramePr/>
          <p:nvPr/>
        </p:nvGraphicFramePr>
        <p:xfrm>
          <a:off x="609600" y="1428750"/>
          <a:ext cx="10972800" cy="4209504"/>
        </p:xfrm>
        <a:graphic>
          <a:graphicData uri="http://schemas.openxmlformats.org/drawingml/2006/table">
            <a:tbl>
              <a:tblPr/>
              <a:tblGrid>
                <a:gridCol w="347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871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Check or risk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Expected behaviour / response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>
                      <a:solidFill>
                        <a:srgbClr val="D7C5AE"/>
                      </a:solidFill>
                      <a:prstDash val="soli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EADB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Valid borrowing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One available copy links to one active member with a due date.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Unavailable copy or inactive member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Borrowing fails without creating a loan.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Repeated borrowing or return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duplicate active loan and no double increase in availability.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Return and persistence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Loan closes, copy becomes available and restart retains records.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Database changes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Back up current data and test changes on a separate copy.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FFC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8714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FFFCF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Time or integration problems</a:t>
                      </a:r>
                    </a:p>
                  </a:txBody>
                  <a:tcPr>
                    <a:lnL w="5715">
                      <a:solidFill>
                        <a:srgbClr val="D7C5AE"/>
                      </a:solidFill>
                      <a:prstDash val="soli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5825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Prioritise</a:t>
                      </a:r>
                      <a:r>
                        <a:rPr sz="1725" b="0" dirty="0">
                          <a:solidFill>
                            <a:srgbClr val="332A2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 borrowing/returns and defer optional features.</a:t>
                      </a:r>
                    </a:p>
                  </a:txBody>
                  <a:tcPr>
                    <a:lnL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7C5AE"/>
                      </a:solidFill>
                      <a:prstDash val="solid"/>
                    </a:lnR>
                    <a:lnT w="5715" cap="flat" cmpd="sng" algn="ctr">
                      <a:solidFill>
                        <a:srgbClr val="D7C5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7C5AE"/>
                      </a:solidFill>
                      <a:prstDash val="solid"/>
                    </a:lnB>
                    <a:solidFill>
                      <a:srgbClr val="F1E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7984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CFCDC47-9D5F-4D49-8B89-6C9DE04AA625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Review decisions and next actions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8F4B4C-9157-4589-AAC5-802653C8F577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43FD99-11F0-4AF9-AE56-2508AE1FC89E}"/>
              </a:ext>
            </a:extLst>
          </p:cNvPr>
          <p:cNvSpPr>
            <a:spLocks noGrp="1"/>
          </p:cNvSpPr>
          <p:nvPr/>
        </p:nvSpPr>
        <p:spPr>
          <a:xfrm>
            <a:off x="609600" y="6400800"/>
            <a:ext cx="1066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806B61"/>
                </a:solidFill>
                <a:latin typeface="Nimbus Sans"/>
                <a:ea typeface="Nimbus Sans"/>
                <a:cs typeface="Nimbus Sans"/>
              </a:rPr>
              <a:t>MEMBER 1 AND MEMBER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14E456-8B4F-4C7B-A16E-E81CCA67254E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Release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AC170-D266-4CAC-95B7-C7E156387206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Record remaining manual checks and the review decision.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04B7F1-A656-4A64-9FD2-F1FF646F3944}"/>
              </a:ext>
            </a:extLst>
          </p:cNvPr>
          <p:cNvSpPr>
            <a:spLocks noGrp="1"/>
          </p:cNvSpPr>
          <p:nvPr/>
        </p:nvSpPr>
        <p:spPr>
          <a:xfrm>
            <a:off x="6324600" y="176212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Manager transition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D2D12-AB8D-419F-9857-4096333D66DB}"/>
              </a:ext>
            </a:extLst>
          </p:cNvPr>
          <p:cNvSpPr>
            <a:spLocks noGrp="1"/>
          </p:cNvSpPr>
          <p:nvPr/>
        </p:nvSpPr>
        <p:spPr>
          <a:xfrm>
            <a:off x="6324600" y="233362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Confirm Member 2’s coordination role and access to project materials.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DE8DCE-F3FB-4CB6-869B-C365F37E82B2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Release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D6FD75-EE07-4CF5-8A61-6FB1FEE51380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Agree the proposed sprint backlog and ten-day work plan.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A365C-3F1E-4954-AADE-6B3268820181}"/>
              </a:ext>
            </a:extLst>
          </p:cNvPr>
          <p:cNvSpPr>
            <a:spLocks noGrp="1"/>
          </p:cNvSpPr>
          <p:nvPr/>
        </p:nvSpPr>
        <p:spPr>
          <a:xfrm>
            <a:off x="6324600" y="3762375"/>
            <a:ext cx="509587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2325" b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Submission pack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9D0A83-4828-4105-9FFB-EEC127CDA1C8}"/>
              </a:ext>
            </a:extLst>
          </p:cNvPr>
          <p:cNvSpPr>
            <a:spLocks noGrp="1"/>
          </p:cNvSpPr>
          <p:nvPr/>
        </p:nvSpPr>
        <p:spPr>
          <a:xfrm>
            <a:off x="6324600" y="4333875"/>
            <a:ext cx="5048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defPPr>
            <a:lvl1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1pPr>
            <a:lvl2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2pPr>
            <a:lvl3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3pPr>
            <a:lvl4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4pPr>
            <a:lvl5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5pPr>
            <a:lvl6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6pPr>
            <a:lvl7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7pPr>
            <a:lvl8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8pPr>
            <a:lvl9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lvl9pPr>
          </a:lstStyle>
          <a:p>
            <a:pPr>
              <a:def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332A27"/>
                </a:solidFill>
                <a:latin typeface="Nimbus Sans"/>
                <a:ea typeface="Nimbus Sans"/>
                <a:cs typeface="Nimbus Sans"/>
              </a:rPr>
              <a:t>Attach the shared repository link, setup evidence and test log.</a:t>
            </a:r>
          </a:p>
        </p:txBody>
      </p:sp>
    </p:spTree>
    <p:extLst>
      <p:ext uri="{BB962C8B-B14F-4D97-AF65-F5344CB8AC3E}">
        <p14:creationId xmlns:p14="http://schemas.microsoft.com/office/powerpoint/2010/main" val="1882542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846FFD-4764-4BDE-9E46-D34960A8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2C0848A-4C28-D404-C87B-A3EA4316A2B5}"/>
              </a:ext>
            </a:extLst>
          </p:cNvPr>
          <p:cNvSpPr>
            <a:spLocks noGrp="1"/>
          </p:cNvSpPr>
          <p:nvPr/>
        </p:nvSpPr>
        <p:spPr>
          <a:xfrm>
            <a:off x="1476375" y="428625"/>
            <a:ext cx="1009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3225" b="0">
                <a:solidFill>
                  <a:srgbClr val="582536"/>
                </a:solidFill>
                <a:latin typeface="Nimbus Roman"/>
                <a:ea typeface="Nimbus Roman"/>
                <a:cs typeface="Nimbus Roman"/>
              </a:defRPr>
            </a:pPr>
            <a:r>
              <a:rPr lang="en-US" sz="3225" b="0" dirty="0">
                <a:solidFill>
                  <a:srgbClr val="582536"/>
                </a:solidFill>
                <a:latin typeface="Nimbus Roman"/>
                <a:ea typeface="Nimbus Roman"/>
                <a:cs typeface="Nimbus Roman"/>
              </a:rPr>
              <a:t>GitHub Repository Link</a:t>
            </a:r>
            <a:endParaRPr sz="3225" b="0" dirty="0">
              <a:solidFill>
                <a:srgbClr val="582536"/>
              </a:solidFill>
              <a:latin typeface="Nimbus Roman"/>
              <a:ea typeface="Nimbus Roman"/>
              <a:cs typeface="Nimbus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F1FBBD-D130-70A8-A489-4EDC1E5B441B}"/>
              </a:ext>
            </a:extLst>
          </p:cNvPr>
          <p:cNvSpPr>
            <a:spLocks noGrp="1"/>
          </p:cNvSpPr>
          <p:nvPr/>
        </p:nvSpPr>
        <p:spPr>
          <a:xfrm>
            <a:off x="266700" y="428625"/>
            <a:ext cx="10001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defPPr>
            <a:lvl1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1pPr>
            <a:lvl2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2pPr>
            <a:lvl3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3pPr>
            <a:lvl4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4pPr>
            <a:lvl5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5pPr>
            <a:lvl6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6pPr>
            <a:lvl7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7pPr>
            <a:lvl8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8pPr>
            <a:lvl9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lvl9pPr>
          </a:lstStyle>
          <a:p>
            <a:pPr>
              <a:defRPr sz="4350" b="0">
                <a:solidFill>
                  <a:srgbClr val="B7552C"/>
                </a:solidFill>
                <a:latin typeface="Nimbus Roman"/>
                <a:ea typeface="Nimbus Roman"/>
                <a:cs typeface="Nimbus Roman"/>
              </a:defRPr>
            </a:pPr>
            <a:r>
              <a:rPr sz="4350" b="0" dirty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1</a:t>
            </a:r>
            <a:r>
              <a:rPr lang="en-US" sz="4350" b="0" dirty="0">
                <a:solidFill>
                  <a:srgbClr val="B7552C"/>
                </a:solidFill>
                <a:latin typeface="Nimbus Roman"/>
                <a:ea typeface="Nimbus Roman"/>
                <a:cs typeface="Nimbus Roman"/>
              </a:rPr>
              <a:t>7</a:t>
            </a:r>
            <a:endParaRPr sz="4350" b="0" dirty="0">
              <a:solidFill>
                <a:srgbClr val="B7552C"/>
              </a:solidFill>
              <a:latin typeface="Nimbus Roman"/>
              <a:ea typeface="Nimbus Roman"/>
              <a:cs typeface="Nimbus Roman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61FB413-8ABB-DB95-65C2-9C9F83410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862573"/>
              </p:ext>
            </p:extLst>
          </p:nvPr>
        </p:nvGraphicFramePr>
        <p:xfrm>
          <a:off x="1185090" y="2254552"/>
          <a:ext cx="9330510" cy="57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54876">
                  <a:extLst>
                    <a:ext uri="{9D8B030D-6E8A-4147-A177-3AD203B41FA5}">
                      <a16:colId xmlns:a16="http://schemas.microsoft.com/office/drawing/2014/main" val="844582846"/>
                    </a:ext>
                  </a:extLst>
                </a:gridCol>
                <a:gridCol w="8875634">
                  <a:extLst>
                    <a:ext uri="{9D8B030D-6E8A-4147-A177-3AD203B41FA5}">
                      <a16:colId xmlns:a16="http://schemas.microsoft.com/office/drawing/2014/main" val="2792518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sz="3200" b="0" dirty="0">
                        <a:solidFill>
                          <a:srgbClr val="582536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0" dirty="0">
                          <a:solidFill>
                            <a:srgbClr val="582536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https://github.com/021Engr-imran/OLMS</a:t>
                      </a:r>
                      <a:endParaRPr sz="3200" b="0" dirty="0">
                        <a:solidFill>
                          <a:srgbClr val="582536"/>
                        </a:solidFill>
                        <a:latin typeface="Nimbus Sans"/>
                        <a:ea typeface="Nimbus Sans"/>
                        <a:cs typeface="Nimbus San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1079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7606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1874</Words>
  <Application>Microsoft Office PowerPoint</Application>
  <DocSecurity>0</DocSecurity>
  <PresentationFormat>Widescreen</PresentationFormat>
  <Paragraphs>324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Nimbus Roman</vt:lpstr>
      <vt:lpstr>Nimbus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IMRAN NAZIR</cp:lastModifiedBy>
  <cp:revision>2</cp:revision>
  <dcterms:created xsi:type="dcterms:W3CDTF">2026-10-25T08:36:25Z</dcterms:created>
  <dcterms:modified xsi:type="dcterms:W3CDTF">2026-10-25T09:32:26Z</dcterms:modified>
</cp:coreProperties>
</file>